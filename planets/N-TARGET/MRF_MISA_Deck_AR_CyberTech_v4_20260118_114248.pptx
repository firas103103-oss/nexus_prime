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200" b="1">
                <a:solidFill>
                  <a:srgbClr val="E6F0FA"/>
                </a:solidFill>
                <a:latin typeface="Noto Naskh Arabic"/>
              </a:rPr>
              <a:t>MRF | ملف استثماري سيادي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A0B9D2"/>
                </a:solidFill>
                <a:latin typeface="Noto Naskh Arabic"/>
              </a:rPr>
              <a:t>وزارة الاستثمار (MISA) | Cyber‑Tech v4</a:t>
            </a:r>
          </a:p>
        </p:txBody>
      </p:sp>
      <p:pic>
        <p:nvPicPr>
          <p:cNvPr id="272" name="Picture 271" descr="portfolio_v2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120640" cy="5120640"/>
          </a:xfrm>
          <a:prstGeom prst="rect">
            <a:avLst/>
          </a:prstGeom>
        </p:spPr>
      </p:pic>
      <p:sp>
        <p:nvSpPr>
          <p:cNvPr id="273" name="Rounded Rectangle 272"/>
          <p:cNvSpPr/>
          <p:nvPr/>
        </p:nvSpPr>
        <p:spPr>
          <a:xfrm>
            <a:off x="6035040" y="1417320"/>
            <a:ext cx="5486400" cy="11887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6035040" y="1417320"/>
            <a:ext cx="5486400" cy="7315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6263640" y="155448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E6F0FA"/>
                </a:solidFill>
                <a:latin typeface="Noto Naskh Arabic"/>
              </a:rPr>
              <a:t>الهوية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263640" y="19842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>
                <a:solidFill>
                  <a:srgbClr val="A0B9D2"/>
                </a:solidFill>
                <a:latin typeface="Noto Naskh Arabic"/>
              </a:rPr>
              <a:t>Sovereign • Cyber‑Tech • Scalable</a:t>
            </a:r>
          </a:p>
        </p:txBody>
      </p:sp>
      <p:sp>
        <p:nvSpPr>
          <p:cNvPr id="277" name="Rounded Rectangle 276"/>
          <p:cNvSpPr/>
          <p:nvPr/>
        </p:nvSpPr>
        <p:spPr>
          <a:xfrm>
            <a:off x="6035040" y="2788920"/>
            <a:ext cx="5486400" cy="11887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6035040" y="2788920"/>
            <a:ext cx="5486400" cy="7315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6263640" y="292608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E6F0FA"/>
                </a:solidFill>
                <a:latin typeface="Noto Naskh Arabic"/>
              </a:rPr>
              <a:t>النطاق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263640" y="33558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>
                <a:solidFill>
                  <a:srgbClr val="A0B9D2"/>
                </a:solidFill>
                <a:latin typeface="Noto Naskh Arabic"/>
              </a:rPr>
              <a:t>Platform + Governance + IoT + Templates + Publishing</a:t>
            </a:r>
          </a:p>
        </p:txBody>
      </p:sp>
      <p:sp>
        <p:nvSpPr>
          <p:cNvPr id="281" name="Rounded Rectangle 280"/>
          <p:cNvSpPr/>
          <p:nvPr/>
        </p:nvSpPr>
        <p:spPr>
          <a:xfrm>
            <a:off x="6035040" y="4160520"/>
            <a:ext cx="5486400" cy="11887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6035040" y="4160520"/>
            <a:ext cx="5486400" cy="7315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6263640" y="429768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E6F0FA"/>
                </a:solidFill>
                <a:latin typeface="Noto Naskh Arabic"/>
              </a:rPr>
              <a:t>الهدف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6263640" y="47274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>
                <a:solidFill>
                  <a:srgbClr val="A0B9D2"/>
                </a:solidFill>
                <a:latin typeface="Noto Naskh Arabic"/>
              </a:rPr>
              <a:t>ترخيص + شراكات + طيار خلال 90 يوم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A0B9D2"/>
                </a:solidFill>
                <a:latin typeface="Noto Naskh Arabic"/>
              </a:rPr>
              <a:t>MRF | MISA – Cyber‑Tech v4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200" b="1">
                <a:solidFill>
                  <a:srgbClr val="E6F0FA"/>
                </a:solidFill>
                <a:latin typeface="Noto Naskh Arabic"/>
              </a:rPr>
              <a:t>الملخص التنفيذي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A0B9D2"/>
                </a:solidFill>
                <a:latin typeface="Noto Naskh Arabic"/>
              </a:rPr>
              <a:t>لماذا هذا ملف استثماري قوي؟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22960" y="141732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منظومة مشاريع مترابطة تتحول إلى منتجات قابلة للترخيص.</a:t>
            </a:r>
          </a:p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تركيز: أثر اقتصادي + قابلية تشغيل + طيار خلال 90 يوم.</a:t>
            </a:r>
          </a:p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حزم: SaaS + IoT + White‑Label + Publishing/IP.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A0B9D2"/>
                </a:solidFill>
                <a:latin typeface="Noto Naskh Arabic"/>
              </a:rPr>
              <a:t>MRF | MISA – Cyber‑Tech 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200" b="1">
                <a:solidFill>
                  <a:srgbClr val="E6F0FA"/>
                </a:solidFill>
                <a:latin typeface="Noto Naskh Arabic"/>
              </a:rPr>
              <a:t>الحل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A0B9D2"/>
                </a:solidFill>
                <a:latin typeface="Noto Naskh Arabic"/>
              </a:rPr>
              <a:t>Sovereign Command Stack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22960" y="141732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ARC Platform / MRF‑X: نواة تشغيل موحدة.</a:t>
            </a:r>
          </a:p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Seventh Shadow: حوكمة القرار (ASK→BUILD→EXECUTE).</a:t>
            </a:r>
          </a:p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X‑Bio Sentinel: استشعار بيئي‑صحي وتحويله إلى قرار.</a:t>
            </a:r>
          </a:p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Clone Hub: قوالب تسليم + White‑Label.</a:t>
            </a:r>
          </a:p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X‑Book + الثلاثية: أصول نشر وهوية فكرية.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A0B9D2"/>
                </a:solidFill>
                <a:latin typeface="Noto Naskh Arabic"/>
              </a:rPr>
              <a:t>MRF | MISA – Cyber‑Tech v4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200" b="1">
                <a:solidFill>
                  <a:srgbClr val="E6F0FA"/>
                </a:solidFill>
                <a:latin typeface="Noto Naskh Arabic"/>
              </a:rPr>
              <a:t>حزم المنتجات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A0B9D2"/>
                </a:solidFill>
                <a:latin typeface="Noto Naskh Arabic"/>
              </a:rPr>
              <a:t>Packaging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822960" y="1417320"/>
            <a:ext cx="3703320" cy="475488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822960" y="1417320"/>
            <a:ext cx="3703320" cy="7315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1051560" y="1554480"/>
            <a:ext cx="3246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E6F0FA"/>
                </a:solidFill>
                <a:latin typeface="Noto Naskh Arabic"/>
              </a:rPr>
              <a:t>حزمة جهة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051560" y="1984248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>
                <a:solidFill>
                  <a:srgbClr val="A0B9D2"/>
                </a:solidFill>
                <a:latin typeface="Noto Naskh Arabic"/>
              </a:rPr>
              <a:t>ARC مؤسسي + حوكمة + تقارير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4526280" y="1417320"/>
            <a:ext cx="3703320" cy="475488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4526280" y="1417320"/>
            <a:ext cx="3703320" cy="7315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4754880" y="1554480"/>
            <a:ext cx="3246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E6F0FA"/>
                </a:solidFill>
                <a:latin typeface="Noto Naskh Arabic"/>
              </a:rPr>
              <a:t>حزمة جودة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4754880" y="1984248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>
                <a:solidFill>
                  <a:srgbClr val="A0B9D2"/>
                </a:solidFill>
                <a:latin typeface="Noto Naskh Arabic"/>
              </a:rPr>
              <a:t>X‑Bio أجهزة + اشتراك + تقارير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8229600" y="1417320"/>
            <a:ext cx="3154680" cy="475488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8229600" y="1417320"/>
            <a:ext cx="3154680" cy="7315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8458200" y="1554480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E6F0FA"/>
                </a:solidFill>
                <a:latin typeface="Noto Naskh Arabic"/>
              </a:rPr>
              <a:t>White‑Label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8458200" y="1984248"/>
            <a:ext cx="2697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>
                <a:solidFill>
                  <a:srgbClr val="A0B9D2"/>
                </a:solidFill>
                <a:latin typeface="Noto Naskh Arabic"/>
              </a:rPr>
              <a:t>Clone Hub + تخصيص + دعم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A0B9D2"/>
                </a:solidFill>
                <a:latin typeface="Noto Naskh Arabic"/>
              </a:rPr>
              <a:t>MRF | MISA – Cyber‑Tech v4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200" b="1">
                <a:solidFill>
                  <a:srgbClr val="E6F0FA"/>
                </a:solidFill>
                <a:latin typeface="Noto Naskh Arabic"/>
              </a:rPr>
              <a:t>خارطة الطريق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A0B9D2"/>
                </a:solidFill>
                <a:latin typeface="Noto Naskh Arabic"/>
              </a:rPr>
              <a:t>0–90 يوم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822960" y="1417320"/>
            <a:ext cx="10881360" cy="146304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822960" y="1417320"/>
            <a:ext cx="10881360" cy="7315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1051560" y="155448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E6F0FA"/>
                </a:solidFill>
                <a:latin typeface="Noto Naskh Arabic"/>
              </a:rPr>
              <a:t>0–30 يوم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051560" y="198424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>
                <a:solidFill>
                  <a:srgbClr val="A0B9D2"/>
                </a:solidFill>
                <a:latin typeface="Noto Naskh Arabic"/>
              </a:rPr>
              <a:t>هوية + MVP ARC + قوالب Clone Hub الأساسية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822960" y="3063240"/>
            <a:ext cx="10881360" cy="146304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822960" y="3063240"/>
            <a:ext cx="10881360" cy="7315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1051560" y="320040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E6F0FA"/>
                </a:solidFill>
                <a:latin typeface="Noto Naskh Arabic"/>
              </a:rPr>
              <a:t>31–60 يوم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051560" y="363016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>
                <a:solidFill>
                  <a:srgbClr val="A0B9D2"/>
                </a:solidFill>
                <a:latin typeface="Noto Naskh Arabic"/>
              </a:rPr>
              <a:t>دمج X‑Bio + تفعيل الحوكمة + تقارير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822960" y="4709160"/>
            <a:ext cx="10881360" cy="146304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822960" y="4709160"/>
            <a:ext cx="10881360" cy="7315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1051560" y="484632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E6F0FA"/>
                </a:solidFill>
                <a:latin typeface="Noto Naskh Arabic"/>
              </a:rPr>
              <a:t>61–90 يوم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051560" y="527608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>
                <a:solidFill>
                  <a:srgbClr val="A0B9D2"/>
                </a:solidFill>
                <a:latin typeface="Noto Naskh Arabic"/>
              </a:rPr>
              <a:t>Pilot + قياس أثر + تثبيت تسعير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A0B9D2"/>
                </a:solidFill>
                <a:latin typeface="Noto Naskh Arabic"/>
              </a:rPr>
              <a:t>MRF | MISA – Cyber‑Tech v4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200" b="1">
                <a:solidFill>
                  <a:srgbClr val="E6F0FA"/>
                </a:solidFill>
                <a:latin typeface="Noto Naskh Arabic"/>
              </a:rPr>
              <a:t>مصادر الإيراد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A0B9D2"/>
                </a:solidFill>
                <a:latin typeface="Noto Naskh Arabic"/>
              </a:rPr>
              <a:t>Revenue Streams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22960" y="141732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اشتراكات SaaS (ARC).</a:t>
            </a:r>
          </a:p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ترخيص مؤسسي سنوي + دعم.</a:t>
            </a:r>
          </a:p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بيع أجهزة + اشتراك تحليلات (X‑Bio).</a:t>
            </a:r>
          </a:p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قوالب/ملحقات (Clone Hub).</a:t>
            </a:r>
          </a:p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تكامل/تخصيص.</a:t>
            </a:r>
          </a:p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ترخيص محتوى/نشر.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A0B9D2"/>
                </a:solidFill>
                <a:latin typeface="Noto Naskh Arabic"/>
              </a:rPr>
              <a:t>MRF | MISA – Cyber‑Tech v4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