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400" b="1">
                <a:solidFill>
                  <a:srgbClr val="141C28"/>
                </a:solidFill>
                <a:latin typeface="Amiri"/>
              </a:rPr>
              <a:t>ملف تعريف تجاري-استثماري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5A697D"/>
                </a:solidFill>
                <a:latin typeface="Amiri"/>
              </a:rPr>
              <a:t>موجّه لوزارة التجارة والاستثمار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02920"/>
            <a:ext cx="2011680" cy="384048"/>
          </a:xfrm>
          <a:prstGeom prst="roundRect">
            <a:avLst/>
          </a:prstGeom>
          <a:solidFill>
            <a:srgbClr val="ECEFF4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48640"/>
            <a:ext cx="1920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23468"/>
                </a:solidFill>
                <a:latin typeface="Amiri"/>
              </a:rPr>
              <a:t>MCI / Investment</a:t>
            </a:r>
          </a:p>
        </p:txBody>
      </p:sp>
      <p:pic>
        <p:nvPicPr>
          <p:cNvPr id="8" name="Picture 7" descr="portfolio_v2_mo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5394960" cy="4480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92240" y="1874519"/>
            <a:ext cx="48920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1874519"/>
            <a:ext cx="73152" cy="1280160"/>
          </a:xfrm>
          <a:prstGeom prst="rect">
            <a:avLst/>
          </a:prstGeom>
          <a:solidFill>
            <a:srgbClr val="1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057399"/>
            <a:ext cx="4526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41C28"/>
                </a:solidFill>
                <a:latin typeface="Amiri"/>
              </a:rPr>
              <a:t>ملخص سريع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560319"/>
            <a:ext cx="4526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5A697D"/>
                </a:solidFill>
                <a:latin typeface="Amiri"/>
              </a:rPr>
              <a:t>عرض تجاري أنيق يوضح النموذج، الامتثال، وخطة السوق.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3383280"/>
            <a:ext cx="48920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3383280"/>
            <a:ext cx="73152" cy="1280160"/>
          </a:xfrm>
          <a:prstGeom prst="rect">
            <a:avLst/>
          </a:prstGeom>
          <a:solidFill>
            <a:srgbClr val="A08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566160"/>
            <a:ext cx="4526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41C28"/>
                </a:solidFill>
                <a:latin typeface="Amiri"/>
              </a:rPr>
              <a:t>جاهزية السوق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069080"/>
            <a:ext cx="4526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5A697D"/>
                </a:solidFill>
                <a:latin typeface="Amiri"/>
              </a:rPr>
              <a:t>حزم + تسعير + GTM 90 يوم.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4892040"/>
            <a:ext cx="48920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4892040"/>
            <a:ext cx="73152" cy="1280160"/>
          </a:xfrm>
          <a:prstGeom prst="rect">
            <a:avLst/>
          </a:prstGeom>
          <a:solidFill>
            <a:srgbClr val="1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5074920"/>
            <a:ext cx="4526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41C28"/>
                </a:solidFill>
                <a:latin typeface="Amiri"/>
              </a:rPr>
              <a:t>الاستخدام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577840"/>
            <a:ext cx="4526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5A697D"/>
                </a:solidFill>
                <a:latin typeface="Amiri"/>
              </a:rPr>
              <a:t>للترخيص/الاستثمار/الشراكات.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510528"/>
            <a:ext cx="10545775" cy="9144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A697D"/>
                </a:solidFill>
                <a:latin typeface="Amiri"/>
              </a:rPr>
              <a:t>MRF | نسخة Minimal Luxury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97D"/>
                </a:solidFill>
                <a:latin typeface="Amiri"/>
              </a:rPr>
              <a:t>MRF | mr.F (MRF103)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400" b="1">
                <a:solidFill>
                  <a:srgbClr val="141C28"/>
                </a:solidFill>
                <a:latin typeface="Amiri"/>
              </a:rPr>
              <a:t>نموذج العمل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5A697D"/>
                </a:solidFill>
                <a:latin typeface="Amiri"/>
              </a:rPr>
              <a:t>منتجات + قنوات + عملاء مستهدفون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>
                <a:solidFill>
                  <a:srgbClr val="141C28"/>
                </a:solidFill>
                <a:latin typeface="Amiri"/>
              </a:defRPr>
            </a:pPr>
            <a:r>
              <a:t>منتج أساسي: ARC/MRF-X كـ SaaS/Enterprise.</a:t>
            </a:r>
          </a:p>
          <a:p>
            <a:pPr algn="r">
              <a:defRPr sz="2200">
                <a:solidFill>
                  <a:srgbClr val="141C28"/>
                </a:solidFill>
                <a:latin typeface="Amiri"/>
              </a:defRPr>
            </a:pPr>
            <a:r>
              <a:t>منتجات مساندة: Clone Hub + Seventh Shadow + X-Bio.</a:t>
            </a:r>
          </a:p>
          <a:p>
            <a:pPr algn="r">
              <a:defRPr sz="2200">
                <a:solidFill>
                  <a:srgbClr val="141C28"/>
                </a:solidFill>
                <a:latin typeface="Amiri"/>
              </a:defRPr>
            </a:pPr>
            <a:r>
              <a:t>قنوات: ترخيص، اشتراكات، شراكات تكامل، خدمات تخصيص.</a:t>
            </a:r>
          </a:p>
          <a:p>
            <a:pPr algn="r">
              <a:defRPr sz="2200">
                <a:solidFill>
                  <a:srgbClr val="141C28"/>
                </a:solidFill>
                <a:latin typeface="Amiri"/>
              </a:defRPr>
            </a:pPr>
            <a:r>
              <a:t>عملاء: جهات/شركات/فرق تشغيل/جودة/بيئة.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510528"/>
            <a:ext cx="10545775" cy="9144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A697D"/>
                </a:solidFill>
                <a:latin typeface="Amiri"/>
              </a:rPr>
              <a:t>MRF | نسخة Minimal Luxury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97D"/>
                </a:solidFill>
                <a:latin typeface="Amiri"/>
              </a:rPr>
              <a:t>وزارة التجارة/الاستثمار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400" b="1">
                <a:solidFill>
                  <a:srgbClr val="141C28"/>
                </a:solidFill>
                <a:latin typeface="Amiri"/>
              </a:rPr>
              <a:t>الحوكمة والامتثال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5A697D"/>
                </a:solidFill>
                <a:latin typeface="Amiri"/>
              </a:rPr>
              <a:t>حوكمة بيانات + سياسات + سجل تدقيق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>
                <a:solidFill>
                  <a:srgbClr val="141C28"/>
                </a:solidFill>
                <a:latin typeface="Amiri"/>
              </a:defRPr>
            </a:pPr>
            <a:r>
              <a:t>بوابات قرار واضحة + سجل تدقيق للعمليات.</a:t>
            </a:r>
          </a:p>
          <a:p>
            <a:pPr algn="r">
              <a:defRPr sz="2200">
                <a:solidFill>
                  <a:srgbClr val="141C28"/>
                </a:solidFill>
                <a:latin typeface="Amiri"/>
              </a:defRPr>
            </a:pPr>
            <a:r>
              <a:t>سياسات خصوصية وشروط استخدام وترخيص.</a:t>
            </a:r>
          </a:p>
          <a:p>
            <a:pPr algn="r">
              <a:defRPr sz="2200">
                <a:solidFill>
                  <a:srgbClr val="141C28"/>
                </a:solidFill>
                <a:latin typeface="Amiri"/>
              </a:defRPr>
            </a:pPr>
            <a:r>
              <a:t>فصل الصلاحيات وإدارة الوصول.</a:t>
            </a:r>
          </a:p>
          <a:p>
            <a:pPr algn="r">
              <a:defRPr sz="2200">
                <a:solidFill>
                  <a:srgbClr val="141C28"/>
                </a:solidFill>
                <a:latin typeface="Amiri"/>
              </a:defRPr>
            </a:pPr>
            <a:r>
              <a:t>تقارير تشغيل/امتثال قابلة للأرشفة.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510528"/>
            <a:ext cx="10545775" cy="9144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A697D"/>
                </a:solidFill>
                <a:latin typeface="Amiri"/>
              </a:rPr>
              <a:t>MRF | نسخة Minimal Luxury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97D"/>
                </a:solidFill>
                <a:latin typeface="Amiri"/>
              </a:rPr>
              <a:t>وزارة التجارة/الاستثمار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400" b="1">
                <a:solidFill>
                  <a:srgbClr val="141C28"/>
                </a:solidFill>
                <a:latin typeface="Amiri"/>
              </a:rPr>
              <a:t>الملكية الفكرية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5A697D"/>
                </a:solidFill>
                <a:latin typeface="Amiri"/>
              </a:rPr>
              <a:t>فصل المصنفات + تسجيل + ترخيص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>
                <a:solidFill>
                  <a:srgbClr val="141C28"/>
                </a:solidFill>
                <a:latin typeface="Amiri"/>
              </a:defRPr>
            </a:pPr>
            <a:r>
              <a:t>مصنفات برمجية/أدبية مفصولة وواضحة.</a:t>
            </a:r>
          </a:p>
          <a:p>
            <a:pPr algn="r">
              <a:defRPr sz="2200">
                <a:solidFill>
                  <a:srgbClr val="141C28"/>
                </a:solidFill>
                <a:latin typeface="Amiri"/>
              </a:defRPr>
            </a:pPr>
            <a:r>
              <a:t>خطة تسجيل + توثيق إصدارات + إدارة حقوق.</a:t>
            </a:r>
          </a:p>
          <a:p>
            <a:pPr algn="r">
              <a:defRPr sz="2200">
                <a:solidFill>
                  <a:srgbClr val="141C28"/>
                </a:solidFill>
                <a:latin typeface="Amiri"/>
              </a:defRPr>
            </a:pPr>
            <a:r>
              <a:t>عقود ترخيص واضحة عند الشراكات/التخصيص.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510528"/>
            <a:ext cx="10545775" cy="9144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A697D"/>
                </a:solidFill>
                <a:latin typeface="Amiri"/>
              </a:rPr>
              <a:t>MRF | نسخة Minimal Luxury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97D"/>
                </a:solidFill>
                <a:latin typeface="Amiri"/>
              </a:rPr>
              <a:t>وزارة التجارة/الاستثمار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400" b="1">
                <a:solidFill>
                  <a:srgbClr val="141C28"/>
                </a:solidFill>
                <a:latin typeface="Amiri"/>
              </a:rPr>
              <a:t>الحزم والتسعير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5A697D"/>
                </a:solidFill>
                <a:latin typeface="Amiri"/>
              </a:rPr>
              <a:t>Packages + 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>
                <a:solidFill>
                  <a:srgbClr val="141C28"/>
                </a:solidFill>
                <a:latin typeface="Amiri"/>
              </a:defRPr>
            </a:pPr>
            <a:r>
              <a:t>SaaS: خطط شهرية/سنوية.</a:t>
            </a:r>
          </a:p>
          <a:p>
            <a:pPr algn="r">
              <a:defRPr sz="2200">
                <a:solidFill>
                  <a:srgbClr val="141C28"/>
                </a:solidFill>
                <a:latin typeface="Amiri"/>
              </a:defRPr>
            </a:pPr>
            <a:r>
              <a:t>Enterprise: ترخيص سنوي + SLA.</a:t>
            </a:r>
          </a:p>
          <a:p>
            <a:pPr algn="r">
              <a:defRPr sz="2200">
                <a:solidFill>
                  <a:srgbClr val="141C28"/>
                </a:solidFill>
                <a:latin typeface="Amiri"/>
              </a:defRPr>
            </a:pPr>
            <a:r>
              <a:t>X-Bio: جهاز + اشتراك تحليلات.</a:t>
            </a:r>
          </a:p>
          <a:p>
            <a:pPr algn="r">
              <a:defRPr sz="2200">
                <a:solidFill>
                  <a:srgbClr val="141C28"/>
                </a:solidFill>
                <a:latin typeface="Amiri"/>
              </a:defRPr>
            </a:pPr>
            <a:r>
              <a:t>Templates: اشتراك حزم Clone Hub.</a:t>
            </a:r>
          </a:p>
          <a:p>
            <a:pPr algn="r">
              <a:defRPr sz="2200">
                <a:solidFill>
                  <a:srgbClr val="141C28"/>
                </a:solidFill>
                <a:latin typeface="Amiri"/>
              </a:defRPr>
            </a:pPr>
            <a:r>
              <a:t>Services: تكامل/تخصيص/تدريب.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510528"/>
            <a:ext cx="10545775" cy="9144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A697D"/>
                </a:solidFill>
                <a:latin typeface="Amiri"/>
              </a:rPr>
              <a:t>MRF | نسخة Minimal Luxury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97D"/>
                </a:solidFill>
                <a:latin typeface="Amiri"/>
              </a:rPr>
              <a:t>وزارة التجارة/الاستثمار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400" b="1">
                <a:solidFill>
                  <a:srgbClr val="141C28"/>
                </a:solidFill>
                <a:latin typeface="Amiri"/>
              </a:rPr>
              <a:t>خطة إطلاق (90 يوم)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5A697D"/>
                </a:solidFill>
                <a:latin typeface="Amiri"/>
              </a:rPr>
              <a:t>Go-To-Market مختصر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>
                <a:solidFill>
                  <a:srgbClr val="141C28"/>
                </a:solidFill>
                <a:latin typeface="Amiri"/>
              </a:defRPr>
            </a:pPr>
            <a:r>
              <a:t>0–30 يوم: توثيق IP + تجهيز سياسات/عقود + اختيار طيار.</a:t>
            </a:r>
          </a:p>
          <a:p>
            <a:pPr algn="r">
              <a:defRPr sz="2200">
                <a:solidFill>
                  <a:srgbClr val="141C28"/>
                </a:solidFill>
                <a:latin typeface="Amiri"/>
              </a:defRPr>
            </a:pPr>
            <a:r>
              <a:t>31–60 يوم: تشغيل طيار + دعم + تكاملات.</a:t>
            </a:r>
          </a:p>
          <a:p>
            <a:pPr algn="r">
              <a:defRPr sz="2200">
                <a:solidFill>
                  <a:srgbClr val="141C28"/>
                </a:solidFill>
                <a:latin typeface="Amiri"/>
              </a:defRPr>
            </a:pPr>
            <a:r>
              <a:t>61–90 يوم: إطلاق رسمي + تسعير نهائي + توسعة شراكات.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510528"/>
            <a:ext cx="10545775" cy="9144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A697D"/>
                </a:solidFill>
                <a:latin typeface="Amiri"/>
              </a:rPr>
              <a:t>MRF | نسخة Minimal Luxury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97D"/>
                </a:solidFill>
                <a:latin typeface="Amiri"/>
              </a:rPr>
              <a:t>وزارة التجارة/الاستثمار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