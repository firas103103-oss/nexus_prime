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E6F0FA"/>
                </a:solidFill>
                <a:latin typeface="Noto Naskh Arabic"/>
              </a:rPr>
              <a:t>MRF | ملف تجاري‑استثماري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0">
                <a:solidFill>
                  <a:srgbClr val="A0B9D2"/>
                </a:solidFill>
                <a:latin typeface="Noto Naskh Arabic"/>
              </a:rPr>
              <a:t>موجّه لوزارة التجارة والاستثمار | Cyber‑Tech v5</a:t>
            </a:r>
          </a:p>
        </p:txBody>
      </p:sp>
      <p:pic>
        <p:nvPicPr>
          <p:cNvPr id="272" name="Picture 271" descr="portfolio_v2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5120640" cy="5120640"/>
          </a:xfrm>
          <a:prstGeom prst="rect">
            <a:avLst/>
          </a:prstGeom>
        </p:spPr>
      </p:pic>
      <p:sp>
        <p:nvSpPr>
          <p:cNvPr id="273" name="Rounded Rectangle 272"/>
          <p:cNvSpPr/>
          <p:nvPr/>
        </p:nvSpPr>
        <p:spPr>
          <a:xfrm>
            <a:off x="6035040" y="1417320"/>
            <a:ext cx="5486400" cy="11887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6035040" y="1417320"/>
            <a:ext cx="548640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6263640" y="155448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>
                <a:solidFill>
                  <a:srgbClr val="E6F0FA"/>
                </a:solidFill>
                <a:latin typeface="Noto Naskh Arabic"/>
              </a:rPr>
              <a:t>الرسالة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263640" y="19842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0B9D2"/>
                </a:solidFill>
                <a:latin typeface="Noto Naskh Arabic"/>
              </a:rPr>
              <a:t>ملف تجاري جاهز للترخيص/الاستثمار والشراكات.</a:t>
            </a:r>
          </a:p>
        </p:txBody>
      </p:sp>
      <p:sp>
        <p:nvSpPr>
          <p:cNvPr id="277" name="Rounded Rectangle 276"/>
          <p:cNvSpPr/>
          <p:nvPr/>
        </p:nvSpPr>
        <p:spPr>
          <a:xfrm>
            <a:off x="6035040" y="2788920"/>
            <a:ext cx="5486400" cy="11887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6035040" y="2788920"/>
            <a:ext cx="5486400" cy="7315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6263640" y="292608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>
                <a:solidFill>
                  <a:srgbClr val="E6F0FA"/>
                </a:solidFill>
                <a:latin typeface="Noto Naskh Arabic"/>
              </a:rPr>
              <a:t>النموذج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263640" y="33558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0B9D2"/>
                </a:solidFill>
                <a:latin typeface="Noto Naskh Arabic"/>
              </a:rPr>
              <a:t>SaaS + Enterprise + IoT + Templates + Publishing</a:t>
            </a:r>
          </a:p>
        </p:txBody>
      </p:sp>
      <p:sp>
        <p:nvSpPr>
          <p:cNvPr id="281" name="Rounded Rectangle 280"/>
          <p:cNvSpPr/>
          <p:nvPr/>
        </p:nvSpPr>
        <p:spPr>
          <a:xfrm>
            <a:off x="6035040" y="4160520"/>
            <a:ext cx="5486400" cy="11887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6035040" y="4160520"/>
            <a:ext cx="548640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6263640" y="4297680"/>
            <a:ext cx="50292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>
                <a:solidFill>
                  <a:srgbClr val="E6F0FA"/>
                </a:solidFill>
                <a:latin typeface="Noto Naskh Arabic"/>
              </a:rPr>
              <a:t>الجاهزية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263640" y="4727448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0B9D2"/>
                </a:solidFill>
                <a:latin typeface="Noto Naskh Arabic"/>
              </a:rPr>
              <a:t>حزم + سياسات + تسعير + خطة سوق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0B9D2"/>
                </a:solidFill>
                <a:latin typeface="Noto Naskh Arabic"/>
              </a:rPr>
              <a:t>MRF | وزارة التجارة/الاستثمار – v5 | الخط: Noto Naskh Arabic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E6F0FA"/>
                </a:solidFill>
                <a:latin typeface="Noto Naskh Arabic"/>
              </a:rPr>
              <a:t>الملخص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0">
                <a:solidFill>
                  <a:srgbClr val="A0B9D2"/>
                </a:solidFill>
                <a:latin typeface="Noto Naskh Arabic"/>
              </a:rPr>
              <a:t>Executive Snapshot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22960" y="141732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منظومة منتجات قابلة للترخيص: SaaS + Enterprise + IoT + Templates + Publishing.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حوكمة قرار وتوثيق تغييرات تدعم الامتثال والشفافية.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نموذج دخل متعدد وقابل للتوسع داخل المملكة.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0B9D2"/>
                </a:solidFill>
                <a:latin typeface="Noto Naskh Arabic"/>
              </a:rPr>
              <a:t>MRF | وزارة التجارة/الاستثمار – v5 | الخط: Noto Naskh Arabic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E6F0FA"/>
                </a:solidFill>
                <a:latin typeface="Noto Naskh Arabic"/>
              </a:rPr>
              <a:t>المنتجات الأساسية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0">
                <a:solidFill>
                  <a:srgbClr val="A0B9D2"/>
                </a:solidFill>
                <a:latin typeface="Noto Naskh Arabic"/>
              </a:rPr>
              <a:t>Products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822960" y="1417320"/>
            <a:ext cx="5669280" cy="14173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822960" y="1417320"/>
            <a:ext cx="566928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1051560" y="155448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>
                <a:solidFill>
                  <a:srgbClr val="E6F0FA"/>
                </a:solidFill>
                <a:latin typeface="Noto Naskh Arabic"/>
              </a:rPr>
              <a:t>ARC / MRF‑X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051560" y="198424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0B9D2"/>
                </a:solidFill>
                <a:latin typeface="Noto Naskh Arabic"/>
              </a:rPr>
              <a:t>SaaS/Enterprise + تقارير + Agents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822960" y="3063240"/>
            <a:ext cx="5669280" cy="14173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822960" y="3063240"/>
            <a:ext cx="5669280" cy="7315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1051560" y="32004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>
                <a:solidFill>
                  <a:srgbClr val="E6F0FA"/>
                </a:solidFill>
                <a:latin typeface="Noto Naskh Arabic"/>
              </a:rPr>
              <a:t>Seventh Shadow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051560" y="363016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0B9D2"/>
                </a:solidFill>
                <a:latin typeface="Noto Naskh Arabic"/>
              </a:rPr>
              <a:t>حوكمة القرار + سجل تدقيق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822960" y="4709160"/>
            <a:ext cx="5669280" cy="14173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822960" y="4709160"/>
            <a:ext cx="566928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1051560" y="484632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>
                <a:solidFill>
                  <a:srgbClr val="E6F0FA"/>
                </a:solidFill>
                <a:latin typeface="Noto Naskh Arabic"/>
              </a:rPr>
              <a:t>Clone Hub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051560" y="527608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0B9D2"/>
                </a:solidFill>
                <a:latin typeface="Noto Naskh Arabic"/>
              </a:rPr>
              <a:t>White‑Label + قوالب تسليم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6720840" y="1417320"/>
            <a:ext cx="4663440" cy="205740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6720840" y="1417320"/>
            <a:ext cx="4663440" cy="7315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6949440" y="1554480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>
                <a:solidFill>
                  <a:srgbClr val="E6F0FA"/>
                </a:solidFill>
                <a:latin typeface="Noto Naskh Arabic"/>
              </a:rPr>
              <a:t>X‑Bio Sentinel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6949440" y="1984248"/>
            <a:ext cx="42062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0B9D2"/>
                </a:solidFill>
                <a:latin typeface="Noto Naskh Arabic"/>
              </a:rPr>
              <a:t>أجهزة + اشتراك تحليلات وتقارير جودة/بيئة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6720840" y="3703320"/>
            <a:ext cx="4663440" cy="14173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6720840" y="3703320"/>
            <a:ext cx="466344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6949440" y="3840480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>
                <a:solidFill>
                  <a:srgbClr val="E6F0FA"/>
                </a:solidFill>
                <a:latin typeface="Noto Naskh Arabic"/>
              </a:rPr>
              <a:t>X‑Book / Publishing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6949440" y="4270248"/>
            <a:ext cx="4206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0B9D2"/>
                </a:solidFill>
                <a:latin typeface="Noto Naskh Arabic"/>
              </a:rPr>
              <a:t>إخراج نشر + خدمات ترخيص محتوى</a:t>
            </a:r>
          </a:p>
        </p:txBody>
      </p:sp>
      <p:sp>
        <p:nvSpPr>
          <p:cNvPr id="292" name="Rectangle 291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0B9D2"/>
                </a:solidFill>
                <a:latin typeface="Noto Naskh Arabic"/>
              </a:rPr>
              <a:t>MRF | وزارة التجارة/الاستثمار – v5 | الخط: Noto Naskh Arabic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E6F0FA"/>
                </a:solidFill>
                <a:latin typeface="Noto Naskh Arabic"/>
              </a:rPr>
              <a:t>نموذج العمل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0">
                <a:solidFill>
                  <a:srgbClr val="A0B9D2"/>
                </a:solidFill>
                <a:latin typeface="Noto Naskh Arabic"/>
              </a:rPr>
              <a:t>Business Model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22960" y="141732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SaaS: اشتراكات شهرية/سنوية (ARC).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Enterprise: ترخيص سنوي + دعم SLA + تخصيص.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IoT: جهاز + اشتراك تحليلات وتقارير (X‑Bio).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Templates: اشتراك قوالب/حزم تسليم (Clone Hub).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Services: تكامل/تدريب/استشارات تشغيل.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0B9D2"/>
                </a:solidFill>
                <a:latin typeface="Noto Naskh Arabic"/>
              </a:rPr>
              <a:t>MRF | وزارة التجارة/الاستثمار – v5 | الخط: Noto Naskh Arabic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E6F0FA"/>
                </a:solidFill>
                <a:latin typeface="Noto Naskh Arabic"/>
              </a:rPr>
              <a:t>العملاء المستهدفون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0">
                <a:solidFill>
                  <a:srgbClr val="A0B9D2"/>
                </a:solidFill>
                <a:latin typeface="Noto Naskh Arabic"/>
              </a:rPr>
              <a:t>Target Segments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22960" y="141732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جهات وفرق تشغيل تحتاج مركز قيادة وتوثيق.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شركات جودة/بيئة/سلامة.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فرق تطوير تبحث عن تسريع تسليم (White‑Label).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ناشرين/مؤسسات محتوى ترغب بخدمات إخراج وترخيص.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0B9D2"/>
                </a:solidFill>
                <a:latin typeface="Noto Naskh Arabic"/>
              </a:rPr>
              <a:t>MRF | وزارة التجارة/الاستثمار – v5 | الخط: Noto Naskh Arabic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E6F0FA"/>
                </a:solidFill>
                <a:latin typeface="Noto Naskh Arabic"/>
              </a:rPr>
              <a:t>الامتثال والسياسات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0">
                <a:solidFill>
                  <a:srgbClr val="A0B9D2"/>
                </a:solidFill>
                <a:latin typeface="Noto Naskh Arabic"/>
              </a:rPr>
              <a:t>Compliance Docs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22960" y="141732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سياسة خصوصية + شروط استخدام + اتفاقيات ترخيص.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سياسات أمن معلومات + إدارة وصول (Roles/Permissions).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إدارة شكاوى ودعم (حسب طبيعة المنتج/السوق).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0B9D2"/>
                </a:solidFill>
                <a:latin typeface="Noto Naskh Arabic"/>
              </a:rPr>
              <a:t>MRF | وزارة التجارة/الاستثمار – v5 | الخط: Noto Naskh Arabic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E6F0FA"/>
                </a:solidFill>
                <a:latin typeface="Noto Naskh Arabic"/>
              </a:rPr>
              <a:t>الملكية الفكرية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0">
                <a:solidFill>
                  <a:srgbClr val="A0B9D2"/>
                </a:solidFill>
                <a:latin typeface="Noto Naskh Arabic"/>
              </a:rPr>
              <a:t>IP &amp; Licensing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22960" y="141732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فصل المصنفات: برمجية/أدبية/قوالب/واجهات.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توثيق إصدارات + سجل تغييرات + شروط ترخيص واضحة.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حماية الحقوق عند الشراكات والتخصيص عبر بنود ملكية واستخدام.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0B9D2"/>
                </a:solidFill>
                <a:latin typeface="Noto Naskh Arabic"/>
              </a:rPr>
              <a:t>MRF | وزارة التجارة/الاستثمار – v5 | الخط: Noto Naskh Arabic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E6F0FA"/>
                </a:solidFill>
                <a:latin typeface="Noto Naskh Arabic"/>
              </a:rPr>
              <a:t>الأمن والبيانات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0">
                <a:solidFill>
                  <a:srgbClr val="A0B9D2"/>
                </a:solidFill>
                <a:latin typeface="Noto Naskh Arabic"/>
              </a:rPr>
              <a:t>Security &amp; Data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22960" y="141732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تصميم سيادي: تحكم بالوصول + سجل تدقيق + نسخ احتياطي.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قابلية النشر: سحابة/محلي/Hybrid حسب متطلبات العميل.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تقارير دورية: تشغيل/امتثال/مؤشرات أداء.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0B9D2"/>
                </a:solidFill>
                <a:latin typeface="Noto Naskh Arabic"/>
              </a:rPr>
              <a:t>MRF | وزارة التجارة/الاستثمار – v5 | الخط: Noto Naskh Arabic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E6F0FA"/>
                </a:solidFill>
                <a:latin typeface="Noto Naskh Arabic"/>
              </a:rPr>
              <a:t>خطة الإطلاق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0">
                <a:solidFill>
                  <a:srgbClr val="A0B9D2"/>
                </a:solidFill>
                <a:latin typeface="Noto Naskh Arabic"/>
              </a:rPr>
              <a:t>Go‑To‑Market | 90 Days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822960" y="1417320"/>
            <a:ext cx="10881360" cy="14173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822960" y="1417320"/>
            <a:ext cx="1088136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1051560" y="155448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>
                <a:solidFill>
                  <a:srgbClr val="E6F0FA"/>
                </a:solidFill>
                <a:latin typeface="Noto Naskh Arabic"/>
              </a:rPr>
              <a:t>0–30 يوم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051560" y="1984248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0B9D2"/>
                </a:solidFill>
                <a:latin typeface="Noto Naskh Arabic"/>
              </a:rPr>
              <a:t>توثيق IP + تجهيز السياسات + اختيار عملاء طيار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822960" y="2971800"/>
            <a:ext cx="10881360" cy="14173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822960" y="2971800"/>
            <a:ext cx="10881360" cy="7315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1051560" y="310896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>
                <a:solidFill>
                  <a:srgbClr val="E6F0FA"/>
                </a:solidFill>
                <a:latin typeface="Noto Naskh Arabic"/>
              </a:rPr>
              <a:t>31–60 يوم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051560" y="3538728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0B9D2"/>
                </a:solidFill>
                <a:latin typeface="Noto Naskh Arabic"/>
              </a:rPr>
              <a:t>تشغيل طيار + تفعيل دعم + تسعير تجريبي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822960" y="4526280"/>
            <a:ext cx="10881360" cy="14173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822960" y="4526280"/>
            <a:ext cx="1088136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1051560" y="4663440"/>
            <a:ext cx="104241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700" b="1">
                <a:solidFill>
                  <a:srgbClr val="E6F0FA"/>
                </a:solidFill>
                <a:latin typeface="Noto Naskh Arabic"/>
              </a:rPr>
              <a:t>61–90 يوم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051560" y="5093208"/>
            <a:ext cx="10424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A0B9D2"/>
                </a:solidFill>
                <a:latin typeface="Noto Naskh Arabic"/>
              </a:rPr>
              <a:t>إطلاق رسمي + شراكات سوق + خطة توسعة</a:t>
            </a:r>
          </a:p>
        </p:txBody>
      </p:sp>
      <p:sp>
        <p:nvSpPr>
          <p:cNvPr id="284" name="Rectangle 283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0B9D2"/>
                </a:solidFill>
                <a:latin typeface="Noto Naskh Arabic"/>
              </a:rPr>
              <a:t>MRF | وزارة التجارة/الاستثمار – v5 | الخط: Noto Naskh Arabic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E6F0FA"/>
                </a:solidFill>
                <a:latin typeface="Noto Naskh Arabic"/>
              </a:rPr>
              <a:t>الطلب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0">
                <a:solidFill>
                  <a:srgbClr val="A0B9D2"/>
                </a:solidFill>
                <a:latin typeface="Noto Naskh Arabic"/>
              </a:rPr>
              <a:t>Partnership / Licensing / Investment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22960" y="141732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عملاء طيار (2–3) داخل السعودية.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شراكات تكامل وتوزيع.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تمويل مرحلي اختياري لتسريع المنتج والتسويق.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0B9D2"/>
                </a:solidFill>
                <a:latin typeface="Noto Naskh Arabic"/>
              </a:rPr>
              <a:t>MRF | وزارة التجارة/الاستثمار – v5 | الخط: Noto Naskh Arabic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000" b="1">
                <a:solidFill>
                  <a:srgbClr val="E6F0FA"/>
                </a:solidFill>
                <a:latin typeface="Noto Naskh Arabic"/>
              </a:rPr>
              <a:t>المرفقات المقترحة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500" b="0">
                <a:solidFill>
                  <a:srgbClr val="A0B9D2"/>
                </a:solidFill>
                <a:latin typeface="Noto Naskh Arabic"/>
              </a:rPr>
              <a:t>Attachments</a:t>
            </a:r>
          </a:p>
        </p:txBody>
      </p:sp>
      <p:sp>
        <p:nvSpPr>
          <p:cNvPr id="272" name="TextBox 271"/>
          <p:cNvSpPr txBox="1"/>
          <p:nvPr/>
        </p:nvSpPr>
        <p:spPr>
          <a:xfrm>
            <a:off x="822960" y="1417320"/>
            <a:ext cx="10545775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عروض PPT/PDF + One‑Pager.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وثائق سياسات (Privacy/Terms/Licensing).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ملخص تقني (Architecture + Data Flow).</a:t>
            </a:r>
          </a:p>
          <a:p>
            <a:pPr algn="r">
              <a:defRPr sz="2000">
                <a:solidFill>
                  <a:srgbClr val="E6F0FA"/>
                </a:solidFill>
                <a:latin typeface="Noto Naskh Arabic"/>
              </a:defRPr>
            </a:pPr>
            <a:r>
              <a:t>خطة تسعير + خطة دعم + مؤشرات أداء.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100" b="0">
                <a:solidFill>
                  <a:srgbClr val="A0B9D2"/>
                </a:solidFill>
                <a:latin typeface="Noto Naskh Arabic"/>
              </a:rPr>
              <a:t>MRF | وزارة التجارة/الاستثمار – v5 | الخط: Noto Naskh Arabic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