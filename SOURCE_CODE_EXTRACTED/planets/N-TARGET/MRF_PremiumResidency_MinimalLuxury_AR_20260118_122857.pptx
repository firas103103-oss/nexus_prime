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41C28"/>
                </a:solidFill>
                <a:latin typeface="Amiri"/>
              </a:rPr>
              <a:t>ملف داعم للإقامة المميزة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5A697D"/>
                </a:solidFill>
                <a:latin typeface="Amiri"/>
              </a:rPr>
              <a:t>صياغة رسمية موجّهة للغرض والوثائق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2920"/>
            <a:ext cx="2011680" cy="384048"/>
          </a:xfrm>
          <a:prstGeom prst="roundRect">
            <a:avLst/>
          </a:prstGeom>
          <a:solidFill>
            <a:srgbClr val="ECEFF4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48640"/>
            <a:ext cx="1920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23468"/>
                </a:solidFill>
                <a:latin typeface="Amiri"/>
              </a:rPr>
              <a:t>Premium Residency</a:t>
            </a:r>
          </a:p>
        </p:txBody>
      </p:sp>
      <p:pic>
        <p:nvPicPr>
          <p:cNvPr id="8" name="Picture 7" descr="portfolio_v2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39496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1874519"/>
            <a:ext cx="4892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874519"/>
            <a:ext cx="73152" cy="1280160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57399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41C28"/>
                </a:solidFill>
                <a:latin typeface="Amiri"/>
              </a:rPr>
              <a:t>ملخص سريع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60319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5A697D"/>
                </a:solidFill>
                <a:latin typeface="Amiri"/>
              </a:rPr>
              <a:t>ملف رسمي مختصر يبرز الأصول القابلة للتوثيق والجاهزية داخل المملكة.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383280"/>
            <a:ext cx="4892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3383280"/>
            <a:ext cx="73152" cy="1280160"/>
          </a:xfrm>
          <a:prstGeom prst="rect">
            <a:avLst/>
          </a:prstGeom>
          <a:solidFill>
            <a:srgbClr val="A08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41C28"/>
                </a:solidFill>
                <a:latin typeface="Amiri"/>
              </a:rPr>
              <a:t>نقاط القوة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69080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5A697D"/>
                </a:solidFill>
                <a:latin typeface="Amiri"/>
              </a:rPr>
              <a:t>تنظيم + قابلية قياس + خطة 90 يوم + مرفقات جاهزة.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892040"/>
            <a:ext cx="4892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4892040"/>
            <a:ext cx="73152" cy="1280160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5074920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41C28"/>
                </a:solidFill>
                <a:latin typeface="Amiri"/>
              </a:rPr>
              <a:t>استخدام الملف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577840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5A697D"/>
                </a:solidFill>
                <a:latin typeface="Amiri"/>
              </a:rPr>
              <a:t>كمرفق داعم ضمن مسار الإقامة المميزة.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510528"/>
            <a:ext cx="10545775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97D"/>
                </a:solidFill>
                <a:latin typeface="Amiri"/>
              </a:rPr>
              <a:t>MRF | نسخة Minimal Luxury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97D"/>
                </a:solidFill>
                <a:latin typeface="Amiri"/>
              </a:rPr>
              <a:t>MRF | mr.F (MRF103)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41C28"/>
                </a:solidFill>
                <a:latin typeface="Amiri"/>
              </a:rPr>
              <a:t>الهدف من الملف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5A697D"/>
                </a:solidFill>
                <a:latin typeface="Amiri"/>
              </a:rPr>
              <a:t>عرض أصول قابلة للتوثيق ومنجزات قابلة للقياس داخل المملكة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إبراز مصنفات تقنية وأدبية بشكل منظم وقابل للأرشفة.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توضيح الأثر المتوقع والجاهزية والتنفيذ داخل السعودية.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تقديم مرفقات يمكن ربطها مباشرة بملفات/إثباتات.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510528"/>
            <a:ext cx="10545775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97D"/>
                </a:solidFill>
                <a:latin typeface="Amiri"/>
              </a:rPr>
              <a:t>MRF | نسخة Minimal Luxury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97D"/>
                </a:solidFill>
                <a:latin typeface="Amiri"/>
              </a:rPr>
              <a:t>الإقامة المميزة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41C28"/>
                </a:solidFill>
                <a:latin typeface="Amiri"/>
              </a:rPr>
              <a:t>المحفظة القابلة للتوثيق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5A697D"/>
                </a:solidFill>
                <a:latin typeface="Amiri"/>
              </a:rPr>
              <a:t>IP + منصات + IoT + مصنفات نشر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ARC/MRF-X: منصة تشغيل سيادية (تقارير/وكلاء/تدفقات).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Seventh Shadow: حوكمة قرار + سجل تدقيق.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X-Bio Sentinel: استشعار وتحليل وتقارير.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Clone Hub: White-Label + قوالب تسليم.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X-Book + الثلاثية: أصول نشر وحقوق.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510528"/>
            <a:ext cx="10545775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97D"/>
                </a:solidFill>
                <a:latin typeface="Amiri"/>
              </a:rPr>
              <a:t>MRF | نسخة Minimal Luxury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97D"/>
                </a:solidFill>
                <a:latin typeface="Amiri"/>
              </a:rPr>
              <a:t>الإقامة المميزة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41C28"/>
                </a:solidFill>
                <a:latin typeface="Amiri"/>
              </a:rPr>
              <a:t>القيمة داخل المملكة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5A697D"/>
                </a:solidFill>
                <a:latin typeface="Amiri"/>
              </a:rPr>
              <a:t>قيمة تشغيلية/حوكمة/قياس + جاهزية طيار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حوكمة رقمية قابلة للتدقيق تقلل المخاطر وترفع الامتثال.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رفع كفاءة التشغيل وتقليل التشتت الأدواتي.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قياس بيئي-صحي يحول البيانات إلى إجراءات.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مخرجات جاهزة: عروض/وثائق/نماذج.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510528"/>
            <a:ext cx="10545775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97D"/>
                </a:solidFill>
                <a:latin typeface="Amiri"/>
              </a:rPr>
              <a:t>MRF | نسخة Minimal Luxury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97D"/>
                </a:solidFill>
                <a:latin typeface="Amiri"/>
              </a:rPr>
              <a:t>الإقامة المميزة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41C28"/>
                </a:solidFill>
                <a:latin typeface="Amiri"/>
              </a:rPr>
              <a:t>خطة 90 يوم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5A697D"/>
                </a:solidFill>
                <a:latin typeface="Amiri"/>
              </a:rPr>
              <a:t>خطة تنفيذ مختصرة قابلة للقياس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0–30 يوم: توثيق الأصول + اختيار Pilot Partner.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31–60 يوم: تشغيل طيار + دمج تقارير X-Bio.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61–90 يوم: تقرير أثر + جاهزية ترخيص/تسعير.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510528"/>
            <a:ext cx="10545775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97D"/>
                </a:solidFill>
                <a:latin typeface="Amiri"/>
              </a:rPr>
              <a:t>MRF | نسخة Minimal Luxury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97D"/>
                </a:solidFill>
                <a:latin typeface="Amiri"/>
              </a:rPr>
              <a:t>الإقامة المميزة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41C28"/>
                </a:solidFill>
                <a:latin typeface="Amiri"/>
              </a:rPr>
              <a:t>مرفقات مقترحة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5A697D"/>
                </a:solidFill>
                <a:latin typeface="Amiri"/>
              </a:rPr>
              <a:t>قائمة مرفقات لتقوية الملف رسميًا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عروض PPT/PDF لكل مشروع.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ملخص معماري (Architecture) + Modules.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لقطات UI/نماذج + عينات كود/مستندات.</a:t>
            </a:r>
          </a:p>
          <a:p>
            <a:pPr algn="r">
              <a:defRPr sz="2200">
                <a:solidFill>
                  <a:srgbClr val="141C28"/>
                </a:solidFill>
                <a:latin typeface="Amiri"/>
              </a:defRPr>
            </a:pPr>
            <a:r>
              <a:t>خطة تشغيل + مؤشرات KPI + جدول زمني.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510528"/>
            <a:ext cx="10545775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97D"/>
                </a:solidFill>
                <a:latin typeface="Amiri"/>
              </a:rPr>
              <a:t>MRF | نسخة Minimal Luxury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97D"/>
                </a:solidFill>
                <a:latin typeface="Amiri"/>
              </a:rPr>
              <a:t>الإقامة المميزة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